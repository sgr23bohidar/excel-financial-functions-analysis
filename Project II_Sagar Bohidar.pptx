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530" r:id="rId5"/>
    <p:sldId id="531" r:id="rId6"/>
    <p:sldId id="533" r:id="rId7"/>
    <p:sldId id="534" r:id="rId8"/>
    <p:sldId id="547" r:id="rId9"/>
    <p:sldId id="548" r:id="rId10"/>
    <p:sldId id="549" r:id="rId11"/>
    <p:sldId id="550" r:id="rId12"/>
    <p:sldId id="535" r:id="rId13"/>
    <p:sldId id="551" r:id="rId14"/>
    <p:sldId id="552" r:id="rId15"/>
    <p:sldId id="543" r:id="rId16"/>
    <p:sldId id="54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 id="4" name="sagar bohidar" initials="sb" lastIdx="2" clrIdx="3">
    <p:extLst>
      <p:ext uri="{19B8F6BF-5375-455C-9EA6-DF929625EA0E}">
        <p15:presenceInfo xmlns:p15="http://schemas.microsoft.com/office/powerpoint/2012/main" userId="62e78ce1a3af99f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422"/>
  </p:normalViewPr>
  <p:slideViewPr>
    <p:cSldViewPr snapToGrid="0">
      <p:cViewPr varScale="1">
        <p:scale>
          <a:sx n="120" d="100"/>
          <a:sy n="120"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6/6/2025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mailto:sgrbohidar23@gmail.co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0" y="2176272"/>
            <a:ext cx="12192000" cy="1481328"/>
          </a:xfrm>
        </p:spPr>
        <p:txBody>
          <a:bodyPr/>
          <a:lstStyle/>
          <a:p>
            <a:r>
              <a:rPr lang="en-US" dirty="0"/>
              <a:t>Financial Functions in Excel:    </a:t>
            </a:r>
            <a:r>
              <a:rPr lang="en-US" sz="1600" dirty="0"/>
              <a:t>A Comprehensive Analysis with Examples</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p:txBody>
          <a:bodyPr/>
          <a:lstStyle/>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Segoe UI Light" panose="020B0502040204020203" pitchFamily="34" charset="0"/>
                <a:cs typeface="Segoe UI Light" panose="020B0502040204020203" pitchFamily="34" charset="0"/>
              </a:rPr>
              <a:t>Introduction</a:t>
            </a:r>
          </a:p>
          <a:p>
            <a:pPr marL="342900" indent="-342900" algn="l">
              <a:lnSpc>
                <a:spcPct val="150000"/>
              </a:lnSpc>
              <a:buClr>
                <a:schemeClr val="accent6"/>
              </a:buClr>
              <a:buFont typeface="Courier New" panose="02070309020205020404" pitchFamily="49" charset="0"/>
              <a:buChar char="o"/>
            </a:pPr>
            <a:r>
              <a:rPr lang="en-US" sz="1800" dirty="0">
                <a:latin typeface="Segoe UI Light" panose="020B0502040204020203" pitchFamily="34" charset="0"/>
                <a:cs typeface="Segoe UI Light" panose="020B0502040204020203" pitchFamily="34" charset="0"/>
              </a:rPr>
              <a:t>Key Findings</a:t>
            </a: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Segoe UI Light" panose="020B0502040204020203" pitchFamily="34" charset="0"/>
                <a:cs typeface="Segoe UI Light" panose="020B0502040204020203" pitchFamily="34" charset="0"/>
              </a:rPr>
              <a:t>Actionable</a:t>
            </a:r>
          </a:p>
          <a:p>
            <a:pPr marL="342900" indent="-342900" algn="l">
              <a:lnSpc>
                <a:spcPct val="150000"/>
              </a:lnSpc>
              <a:buClr>
                <a:schemeClr val="accent6"/>
              </a:buClr>
              <a:buFont typeface="Courier New" panose="02070309020205020404" pitchFamily="49" charset="0"/>
              <a:buChar char="o"/>
            </a:pPr>
            <a:r>
              <a:rPr lang="en-US" sz="1800" dirty="0">
                <a:latin typeface="Segoe UI Light" panose="020B0502040204020203" pitchFamily="34" charset="0"/>
                <a:cs typeface="Segoe UI Light" panose="020B0502040204020203" pitchFamily="34" charset="0"/>
              </a:rPr>
              <a:t>Methodologies</a:t>
            </a: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Segoe UI Light" panose="020B0502040204020203" pitchFamily="34" charset="0"/>
                <a:cs typeface="Segoe UI Light" panose="020B0502040204020203" pitchFamily="34" charset="0"/>
              </a:rPr>
              <a:t>Approaches</a:t>
            </a:r>
          </a:p>
          <a:p>
            <a:pPr marL="342900" indent="-342900" algn="l">
              <a:lnSpc>
                <a:spcPct val="150000"/>
              </a:lnSpc>
              <a:buClr>
                <a:schemeClr val="accent6"/>
              </a:buClr>
              <a:buFont typeface="Courier New" panose="02070309020205020404" pitchFamily="49" charset="0"/>
              <a:buChar char="o"/>
            </a:pPr>
            <a:r>
              <a:rPr lang="en-US" sz="1800" dirty="0">
                <a:latin typeface="Segoe UI Light" panose="020B0502040204020203" pitchFamily="34" charset="0"/>
                <a:cs typeface="Segoe UI Light" panose="020B0502040204020203" pitchFamily="34" charset="0"/>
              </a:rPr>
              <a:t>Insights</a:t>
            </a: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Segoe UI Light" panose="020B0502040204020203" pitchFamily="34" charset="0"/>
                <a:cs typeface="Segoe UI Light" panose="020B0502040204020203" pitchFamily="34" charset="0"/>
              </a:rPr>
              <a:t>Con</a:t>
            </a:r>
            <a:r>
              <a:rPr lang="en-US" sz="1800" dirty="0">
                <a:latin typeface="Segoe UI Light" panose="020B0502040204020203" pitchFamily="34" charset="0"/>
                <a:cs typeface="Segoe UI Light" panose="020B0502040204020203" pitchFamily="34" charset="0"/>
              </a:rPr>
              <a:t>clusions</a:t>
            </a:r>
            <a:endParaRPr lang="en-US" sz="1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214372" y="1208599"/>
            <a:ext cx="7763256" cy="587204"/>
          </a:xfrm>
        </p:spPr>
        <p:txBody>
          <a:bodyPr/>
          <a:lstStyle/>
          <a:p>
            <a:r>
              <a:rPr lang="en-US" dirty="0"/>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798344" y="2285800"/>
            <a:ext cx="10595312" cy="2286399"/>
          </a:xfrm>
        </p:spPr>
        <p:txBody>
          <a:bodyPr/>
          <a:lstStyle/>
          <a:p>
            <a:pPr algn="just"/>
            <a:r>
              <a:rPr lang="en-US" dirty="0"/>
              <a:t>In today’s data-driven financial landscape, the ability to leverage spreadsheet tools like Microsoft Excel for financial analysis is not just helpful—it’s essential. This project focuses on equipping users with a practical understanding of key Excel financial functions such as PV, NPV, XNPV, IRR, XIRR, MIRR, PMT, IPMT, PPMT, RATE, and NPER. These functions are fundamental for tasks ranging from evaluating investments and comparing returns to planning loan payments and managing personal finances. </a:t>
            </a:r>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3943482" y="428576"/>
            <a:ext cx="4305035" cy="620202"/>
          </a:xfrm>
        </p:spPr>
        <p:txBody>
          <a:bodyPr/>
          <a:lstStyle/>
          <a:p>
            <a:r>
              <a:rPr lang="en-US" dirty="0"/>
              <a:t>KEYFINDINGS</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982582" y="1450847"/>
            <a:ext cx="7859268" cy="4528533"/>
          </a:xfrm>
        </p:spPr>
        <p:txBody>
          <a:bodyPr/>
          <a:lstStyle/>
          <a:p>
            <a:r>
              <a:rPr lang="en-US" sz="2000" dirty="0"/>
              <a:t>Present Value Shows the Worth of Future Money Today</a:t>
            </a:r>
          </a:p>
          <a:p>
            <a:r>
              <a:rPr lang="en-US" sz="1600" b="0" dirty="0"/>
              <a:t>Example: Suppose you want to buy a refrigerator that costs ₹32,000. Instead of paying upfront, you pay ₹6,000 per year for 8 years with an interest rate of 13%.</a:t>
            </a:r>
          </a:p>
          <a:p>
            <a:r>
              <a:rPr lang="en-US" sz="1600" b="0" dirty="0"/>
              <a:t>Formula:=PV(13%, 8, -6000)</a:t>
            </a:r>
          </a:p>
          <a:p>
            <a:r>
              <a:rPr lang="en-US" sz="1600" b="0" dirty="0"/>
              <a:t>Result: ₹-32,114.68</a:t>
            </a:r>
          </a:p>
          <a:p>
            <a:r>
              <a:rPr lang="en-US" sz="1600" b="0" dirty="0"/>
              <a:t>Insight: You’re effectively paying ₹32,114 today for something worth ₹32,000, which indicates a break-even or close-to-neutral value.</a:t>
            </a:r>
          </a:p>
          <a:p>
            <a:endParaRPr lang="en-US" sz="1600" b="0" dirty="0"/>
          </a:p>
          <a:p>
            <a:r>
              <a:rPr lang="en-US" sz="2000" dirty="0"/>
              <a:t>Net Present Value Helps Compare Investment Options</a:t>
            </a:r>
          </a:p>
          <a:p>
            <a:r>
              <a:rPr lang="en-US" sz="1600" b="0" dirty="0"/>
              <a:t>Example: If you invest ₹1,000 and expect to receive ₹300, ₹400, ₹500, and ₹600 over the next 4 years, </a:t>
            </a:r>
          </a:p>
          <a:p>
            <a:r>
              <a:rPr lang="en-US" sz="1600" b="0" dirty="0"/>
              <a:t>Formula:=NPV(10%, -1000, 300, 400, 500, 600)</a:t>
            </a:r>
          </a:p>
          <a:p>
            <a:r>
              <a:rPr lang="en-US" sz="1600" b="0" dirty="0"/>
              <a:t>Result: ₹496.68</a:t>
            </a:r>
          </a:p>
          <a:p>
            <a:r>
              <a:rPr lang="en-US" sz="1600" b="0" dirty="0"/>
              <a:t>Insight: A positive NPV means the investment is profitable at a 10% discount rate.</a:t>
            </a:r>
          </a:p>
        </p:txBody>
      </p:sp>
    </p:spTree>
    <p:extLst>
      <p:ext uri="{BB962C8B-B14F-4D97-AF65-F5344CB8AC3E}">
        <p14:creationId xmlns:p14="http://schemas.microsoft.com/office/powerpoint/2010/main" val="54847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3943482" y="428576"/>
            <a:ext cx="4305035" cy="620202"/>
          </a:xfrm>
        </p:spPr>
        <p:txBody>
          <a:bodyPr/>
          <a:lstStyle/>
          <a:p>
            <a:r>
              <a:rPr lang="en-US" dirty="0"/>
              <a:t>KEYFINDINGS</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982582" y="1450847"/>
            <a:ext cx="7859268" cy="4528533"/>
          </a:xfrm>
        </p:spPr>
        <p:txBody>
          <a:bodyPr/>
          <a:lstStyle/>
          <a:p>
            <a:r>
              <a:rPr lang="en-US" sz="2000" dirty="0"/>
              <a:t>XNPV Accommodates Irregular Cash Flow Timing</a:t>
            </a:r>
          </a:p>
          <a:p>
            <a:r>
              <a:rPr lang="en-US" sz="1600" b="0" dirty="0"/>
              <a:t>Example: You receive the following cash flows on irregular dates:₹-1,000 on 01-Jan-2025₹500 on 01-Jun-2025₹700 on 01-Jan-2026</a:t>
            </a:r>
          </a:p>
          <a:p>
            <a:r>
              <a:rPr lang="en-US" sz="1600" b="0" dirty="0"/>
              <a:t>Formula:=XNPV(10%, { -1000, 500, 700 }, { "01-Jan-2025", "01-Jun-2025", "01-Jan-2026" })</a:t>
            </a:r>
          </a:p>
          <a:p>
            <a:r>
              <a:rPr lang="en-US" sz="1600" b="0" dirty="0"/>
              <a:t>Insight: XNPV offers a more precise evaluation when cash flows do not occur at regular intervals.</a:t>
            </a:r>
          </a:p>
          <a:p>
            <a:r>
              <a:rPr lang="en-US" sz="2000" dirty="0"/>
              <a:t>EMI Makes Loan Payments Predictable</a:t>
            </a:r>
          </a:p>
          <a:p>
            <a:r>
              <a:rPr lang="en-US" sz="1600" b="0" dirty="0"/>
              <a:t>Example: Borrow ₹5,000,000 for 25 years at 11.5% annual interest.</a:t>
            </a:r>
          </a:p>
          <a:p>
            <a:r>
              <a:rPr lang="en-US" sz="1600" b="0" dirty="0"/>
              <a:t>Formula:=PMT(11.5%/12, 25*12, -5000000, 0, 1)</a:t>
            </a:r>
          </a:p>
          <a:p>
            <a:r>
              <a:rPr lang="en-US" sz="1600" b="0" dirty="0"/>
              <a:t>Result: ₹48,216.72/month</a:t>
            </a:r>
          </a:p>
          <a:p>
            <a:r>
              <a:rPr lang="en-US" sz="1600" b="0" dirty="0"/>
              <a:t>Insight: Knowing the EMI helps in planning your monthly budget and assessing loan affordability.</a:t>
            </a:r>
          </a:p>
        </p:txBody>
      </p:sp>
    </p:spTree>
    <p:extLst>
      <p:ext uri="{BB962C8B-B14F-4D97-AF65-F5344CB8AC3E}">
        <p14:creationId xmlns:p14="http://schemas.microsoft.com/office/powerpoint/2010/main" val="858765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3943482" y="428576"/>
            <a:ext cx="4305035" cy="620202"/>
          </a:xfrm>
        </p:spPr>
        <p:txBody>
          <a:bodyPr/>
          <a:lstStyle/>
          <a:p>
            <a:r>
              <a:rPr lang="en-US" dirty="0"/>
              <a:t>KEYFINDINGS</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982582" y="1450847"/>
            <a:ext cx="7859268" cy="4528533"/>
          </a:xfrm>
        </p:spPr>
        <p:txBody>
          <a:bodyPr/>
          <a:lstStyle/>
          <a:p>
            <a:r>
              <a:rPr lang="en-US" sz="2000" dirty="0"/>
              <a:t>Interest and Principal Components Clarify Payment Structure</a:t>
            </a:r>
          </a:p>
          <a:p>
            <a:r>
              <a:rPr lang="en-US" sz="1600" b="0" dirty="0"/>
              <a:t>Use IPMT and PPMT to break down the EMI:</a:t>
            </a:r>
          </a:p>
          <a:p>
            <a:r>
              <a:rPr lang="en-US" sz="1600" b="0" dirty="0"/>
              <a:t>Formula for Interest in 1st month:=IPMT(11.5%/12, 1, 25*12, -5000000, 0, 1)</a:t>
            </a:r>
          </a:p>
          <a:p>
            <a:r>
              <a:rPr lang="en-US" sz="1600" b="0" dirty="0"/>
              <a:t>Formula for Principal in 1st month:=PPMT(11.5%/12, 1, 25*12, -5000000, 0, 1)</a:t>
            </a:r>
          </a:p>
          <a:p>
            <a:r>
              <a:rPr lang="en-US" sz="1600" b="0" dirty="0"/>
              <a:t>Insight: This helps you understand how much of your payment goes toward interest vs. reducing principal.</a:t>
            </a:r>
          </a:p>
          <a:p>
            <a:endParaRPr lang="en-US" sz="1600" b="0" dirty="0"/>
          </a:p>
          <a:p>
            <a:r>
              <a:rPr lang="en-US" sz="2000" dirty="0"/>
              <a:t>RATE Helps Determine the Interest Rate of a Loan</a:t>
            </a:r>
          </a:p>
          <a:p>
            <a:r>
              <a:rPr lang="en-US" sz="1600" b="0" dirty="0"/>
              <a:t>Example: You want to borrow ₹100,000, repayable in 15 months with monthly payments of ₹12,000.</a:t>
            </a:r>
          </a:p>
          <a:p>
            <a:r>
              <a:rPr lang="en-US" sz="1600" b="0" dirty="0"/>
              <a:t>Formula:=RATE(15, -12000, 100000)</a:t>
            </a:r>
          </a:p>
          <a:p>
            <a:r>
              <a:rPr lang="en-US" sz="1600" b="0" dirty="0"/>
              <a:t>Result: ~3.37% per month or ~40.4% annually</a:t>
            </a:r>
          </a:p>
          <a:p>
            <a:r>
              <a:rPr lang="en-US" sz="1600" b="0" dirty="0"/>
              <a:t>Insight: Useful for reverse-calculating interest from known loan terms.</a:t>
            </a:r>
          </a:p>
        </p:txBody>
      </p:sp>
    </p:spTree>
    <p:extLst>
      <p:ext uri="{BB962C8B-B14F-4D97-AF65-F5344CB8AC3E}">
        <p14:creationId xmlns:p14="http://schemas.microsoft.com/office/powerpoint/2010/main" val="366225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3943482" y="428576"/>
            <a:ext cx="4305035" cy="620202"/>
          </a:xfrm>
        </p:spPr>
        <p:txBody>
          <a:bodyPr/>
          <a:lstStyle/>
          <a:p>
            <a:r>
              <a:rPr lang="en-US" dirty="0"/>
              <a:t>KEYFINDINGS</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982582" y="1450847"/>
            <a:ext cx="7859268" cy="4528533"/>
          </a:xfrm>
        </p:spPr>
        <p:txBody>
          <a:bodyPr/>
          <a:lstStyle/>
          <a:p>
            <a:r>
              <a:rPr lang="en-US" sz="2000" dirty="0"/>
              <a:t>NPER Calculates Time Needed to Repay a Loan</a:t>
            </a:r>
          </a:p>
          <a:p>
            <a:r>
              <a:rPr lang="en-US" sz="1600" b="0" dirty="0"/>
              <a:t>Example: You borrow ₹100,000, can pay ₹15,000/month, and interest rate is 10% annually.</a:t>
            </a:r>
          </a:p>
          <a:p>
            <a:r>
              <a:rPr lang="en-US" sz="1600" b="0" dirty="0"/>
              <a:t>Formula:=NPER(10%/12, -15000, 100000)</a:t>
            </a:r>
          </a:p>
          <a:p>
            <a:r>
              <a:rPr lang="en-US" sz="1600" b="0" dirty="0"/>
              <a:t>Result: ~7.23 months</a:t>
            </a:r>
          </a:p>
          <a:p>
            <a:r>
              <a:rPr lang="en-US" sz="1600" b="0" dirty="0"/>
              <a:t>Insight: Helps in planning how soon a loan can be cleared with given payment ability.</a:t>
            </a:r>
          </a:p>
          <a:p>
            <a:endParaRPr lang="en-US" sz="1600" b="0" dirty="0"/>
          </a:p>
          <a:p>
            <a:r>
              <a:rPr lang="en-US" sz="2000" dirty="0"/>
              <a:t>IRR Evaluates the Return Rate of a Series of Cash Flows</a:t>
            </a:r>
          </a:p>
          <a:p>
            <a:r>
              <a:rPr lang="en-US" sz="1600" b="0" dirty="0"/>
              <a:t>Example: Investment with cash flows of ₹-5000, ₹1500, ₹2000, ₹2500, and ₹3000.=IRR(A1:A5)</a:t>
            </a:r>
          </a:p>
          <a:p>
            <a:r>
              <a:rPr lang="en-US" sz="1600" b="0" dirty="0"/>
              <a:t>Result: ~23.44%</a:t>
            </a:r>
          </a:p>
          <a:p>
            <a:r>
              <a:rPr lang="en-US" sz="1600" b="0" dirty="0"/>
              <a:t>Insight: IRR is the break-even interest rate that makes the investment's NPV zero.</a:t>
            </a:r>
          </a:p>
        </p:txBody>
      </p:sp>
    </p:spTree>
    <p:extLst>
      <p:ext uri="{BB962C8B-B14F-4D97-AF65-F5344CB8AC3E}">
        <p14:creationId xmlns:p14="http://schemas.microsoft.com/office/powerpoint/2010/main" val="2246186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3943482" y="428576"/>
            <a:ext cx="4305035" cy="620202"/>
          </a:xfrm>
        </p:spPr>
        <p:txBody>
          <a:bodyPr/>
          <a:lstStyle/>
          <a:p>
            <a:r>
              <a:rPr lang="en-US" dirty="0"/>
              <a:t>KEYFINDINGS</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982582" y="1450847"/>
            <a:ext cx="7859268" cy="4528533"/>
          </a:xfrm>
        </p:spPr>
        <p:txBody>
          <a:bodyPr/>
          <a:lstStyle/>
          <a:p>
            <a:r>
              <a:rPr lang="en-US" sz="2000" dirty="0"/>
              <a:t>XIRR Works with Irregular Dates</a:t>
            </a:r>
          </a:p>
          <a:p>
            <a:r>
              <a:rPr lang="en-US" sz="1600" b="0" dirty="0"/>
              <a:t>Example: Cash flows: ₹-10,000 on 01-Jan-2025, ₹6,000 on 01-Sep-2025, ₹7,000 on 01-Apr-2026</a:t>
            </a:r>
          </a:p>
          <a:p>
            <a:r>
              <a:rPr lang="en-US" sz="1600" b="0" dirty="0"/>
              <a:t>Formula:=XIRR({-10000, 6000, 7000}, {"01-Jan-2025", "01-Sep-2025", "01-Apr-2026"})</a:t>
            </a:r>
          </a:p>
          <a:p>
            <a:r>
              <a:rPr lang="en-US" sz="1600" b="0" dirty="0"/>
              <a:t>Insight: Use XIRR for real-life investment cash flows that don’t follow a regular schedule.</a:t>
            </a:r>
          </a:p>
          <a:p>
            <a:endParaRPr lang="en-US" sz="1600" b="0" dirty="0"/>
          </a:p>
          <a:p>
            <a:r>
              <a:rPr lang="en-US" sz="2000" dirty="0"/>
              <a:t>MIRR Accounts for Financing and Reinvestment Rates</a:t>
            </a:r>
          </a:p>
          <a:p>
            <a:r>
              <a:rPr lang="en-US" sz="1600" b="0" dirty="0"/>
              <a:t>Example: For cash flows of ₹-10000, ₹3000, ₹4200, and ₹6800:=MIRR({-10000, 3000, 4200, 6800}, 10%, 12%)</a:t>
            </a:r>
          </a:p>
          <a:p>
            <a:r>
              <a:rPr lang="en-US" sz="1600" b="0" dirty="0"/>
              <a:t>Result: ~18.36%</a:t>
            </a:r>
          </a:p>
          <a:p>
            <a:r>
              <a:rPr lang="en-US" sz="1600" b="0" dirty="0"/>
              <a:t>Insight: MIRR is more realistic for comparing investments with differing reinvestment conditions.</a:t>
            </a:r>
          </a:p>
        </p:txBody>
      </p:sp>
    </p:spTree>
    <p:extLst>
      <p:ext uri="{BB962C8B-B14F-4D97-AF65-F5344CB8AC3E}">
        <p14:creationId xmlns:p14="http://schemas.microsoft.com/office/powerpoint/2010/main" val="1229180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850392" y="291416"/>
            <a:ext cx="10881360" cy="1069848"/>
          </a:xfrm>
        </p:spPr>
        <p:txBody>
          <a:bodyPr/>
          <a:lstStyle/>
          <a:p>
            <a:r>
              <a:rPr lang="en-US" sz="4000" b="1" spc="600" dirty="0">
                <a:ln w="28575">
                  <a:noFill/>
                  <a:prstDash val="solid"/>
                </a:ln>
                <a:solidFill>
                  <a:schemeClr val="bg1"/>
                </a:solidFill>
                <a:latin typeface="Tw Cen MT" panose="020B0602020104020603" pitchFamily="34" charset="77"/>
              </a:rPr>
              <a:t>Actionable Methodologies</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2"/>
          </p:nvPr>
        </p:nvSpPr>
        <p:spPr/>
        <p:txBody>
          <a:bodyPr/>
          <a:lstStyle/>
          <a:p>
            <a:fld id="{294A09A9-5501-47C1-A89A-A340965A2BE2}" type="slidenum">
              <a:rPr lang="en-US" smtClean="0"/>
              <a:pPr/>
              <a:t>9</a:t>
            </a:fld>
            <a:endParaRPr lang="en-US" dirty="0"/>
          </a:p>
        </p:txBody>
      </p:sp>
      <p:sp>
        <p:nvSpPr>
          <p:cNvPr id="19" name="TextBox 18">
            <a:extLst>
              <a:ext uri="{FF2B5EF4-FFF2-40B4-BE49-F238E27FC236}">
                <a16:creationId xmlns:a16="http://schemas.microsoft.com/office/drawing/2014/main" id="{44E94968-4520-4599-BE54-E4F0C0CBDEB2}"/>
              </a:ext>
            </a:extLst>
          </p:cNvPr>
          <p:cNvSpPr txBox="1"/>
          <p:nvPr/>
        </p:nvSpPr>
        <p:spPr>
          <a:xfrm>
            <a:off x="850392" y="1361264"/>
            <a:ext cx="9422693" cy="2862322"/>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Step-by-step Function Use</a:t>
            </a:r>
            <a:r>
              <a:rPr lang="en-US" sz="2000" dirty="0">
                <a:solidFill>
                  <a:schemeClr val="bg1"/>
                </a:solidFill>
                <a:latin typeface="+mj-lt"/>
                <a:cs typeface="Segoe UI" panose="020B0502040204020203" pitchFamily="34" charset="0"/>
              </a:rPr>
              <a:t>: Build a habit of identifying required inputs for each function, interest rate, number of periods, payment amount, and cash flow schedule.</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Use Cell Referencing</a:t>
            </a:r>
            <a:r>
              <a:rPr lang="en-US" sz="2000" dirty="0">
                <a:solidFill>
                  <a:schemeClr val="bg1"/>
                </a:solidFill>
                <a:latin typeface="+mj-lt"/>
                <a:cs typeface="Segoe UI" panose="020B0502040204020203" pitchFamily="34" charset="0"/>
              </a:rPr>
              <a:t>: Always use cell references instead of hardcoding values. This allows for easier scenario testing.</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Data Validation</a:t>
            </a:r>
            <a:r>
              <a:rPr lang="en-US" sz="2000" dirty="0">
                <a:solidFill>
                  <a:schemeClr val="bg1"/>
                </a:solidFill>
                <a:latin typeface="+mj-lt"/>
                <a:cs typeface="Segoe UI" panose="020B0502040204020203" pitchFamily="34" charset="0"/>
              </a:rPr>
              <a:t>: Ensure dates and cash flows are correctly formatted to avoid errors in functions like XNPV and XIRR.</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Named Ranges</a:t>
            </a:r>
            <a:r>
              <a:rPr lang="en-US" sz="2000" dirty="0">
                <a:solidFill>
                  <a:schemeClr val="bg1"/>
                </a:solidFill>
                <a:latin typeface="+mj-lt"/>
                <a:cs typeface="Segoe UI" panose="020B0502040204020203" pitchFamily="34" charset="0"/>
              </a:rPr>
              <a:t>: Use named ranges for clarity in complex formulas.</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Documentation</a:t>
            </a:r>
            <a:r>
              <a:rPr lang="en-US" sz="2000" dirty="0">
                <a:solidFill>
                  <a:schemeClr val="bg1"/>
                </a:solidFill>
                <a:latin typeface="+mj-lt"/>
                <a:cs typeface="Segoe UI" panose="020B0502040204020203" pitchFamily="34" charset="0"/>
              </a:rPr>
              <a:t>: Add comments or notes to explain what each formula does, especially in collaborative or long-term financial models.</a:t>
            </a:r>
          </a:p>
        </p:txBody>
      </p:sp>
    </p:spTree>
    <p:extLst>
      <p:ext uri="{BB962C8B-B14F-4D97-AF65-F5344CB8AC3E}">
        <p14:creationId xmlns:p14="http://schemas.microsoft.com/office/powerpoint/2010/main" val="1372651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850392" y="291416"/>
            <a:ext cx="10881360" cy="1069848"/>
          </a:xfrm>
        </p:spPr>
        <p:txBody>
          <a:bodyPr/>
          <a:lstStyle/>
          <a:p>
            <a:r>
              <a:rPr lang="en-US" sz="4000" b="1" spc="600" dirty="0">
                <a:ln w="28575">
                  <a:noFill/>
                  <a:prstDash val="solid"/>
                </a:ln>
                <a:solidFill>
                  <a:schemeClr val="bg1"/>
                </a:solidFill>
                <a:latin typeface="Tw Cen MT" panose="020B0602020104020603" pitchFamily="34" charset="77"/>
              </a:rPr>
              <a:t>Approaches</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2"/>
          </p:nvPr>
        </p:nvSpPr>
        <p:spPr/>
        <p:txBody>
          <a:bodyPr/>
          <a:lstStyle/>
          <a:p>
            <a:fld id="{294A09A9-5501-47C1-A89A-A340965A2BE2}" type="slidenum">
              <a:rPr lang="en-US" smtClean="0"/>
              <a:pPr/>
              <a:t>10</a:t>
            </a:fld>
            <a:endParaRPr lang="en-US" dirty="0"/>
          </a:p>
        </p:txBody>
      </p:sp>
      <p:sp>
        <p:nvSpPr>
          <p:cNvPr id="19" name="TextBox 18">
            <a:extLst>
              <a:ext uri="{FF2B5EF4-FFF2-40B4-BE49-F238E27FC236}">
                <a16:creationId xmlns:a16="http://schemas.microsoft.com/office/drawing/2014/main" id="{44E94968-4520-4599-BE54-E4F0C0CBDEB2}"/>
              </a:ext>
            </a:extLst>
          </p:cNvPr>
          <p:cNvSpPr txBox="1"/>
          <p:nvPr/>
        </p:nvSpPr>
        <p:spPr>
          <a:xfrm>
            <a:off x="850392" y="1361264"/>
            <a:ext cx="9422693" cy="2554545"/>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Conceptual Breakdown: </a:t>
            </a:r>
            <a:r>
              <a:rPr lang="en-US" sz="2000" dirty="0">
                <a:solidFill>
                  <a:schemeClr val="bg1"/>
                </a:solidFill>
                <a:latin typeface="+mj-lt"/>
                <a:cs typeface="Segoe UI" panose="020B0502040204020203" pitchFamily="34" charset="0"/>
              </a:rPr>
              <a:t>Every financial concept is explained in simple terms before applying Excel formulas.</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Use of Real-life Scenarios: </a:t>
            </a:r>
            <a:r>
              <a:rPr lang="en-US" sz="2000" dirty="0">
                <a:solidFill>
                  <a:schemeClr val="bg1"/>
                </a:solidFill>
                <a:latin typeface="+mj-lt"/>
                <a:cs typeface="Segoe UI" panose="020B0502040204020203" pitchFamily="34" charset="0"/>
              </a:rPr>
              <a:t>The dataset includes examples like purchasing appliances, taking out loans, or evaluating business investments.</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Progressive Learning: </a:t>
            </a:r>
            <a:r>
              <a:rPr lang="en-US" sz="2000" dirty="0">
                <a:solidFill>
                  <a:schemeClr val="bg1"/>
                </a:solidFill>
                <a:latin typeface="+mj-lt"/>
                <a:cs typeface="Segoe UI" panose="020B0502040204020203" pitchFamily="34" charset="0"/>
              </a:rPr>
              <a:t>Basic functions like PV and PMT are introduced first, leading into more advanced functions like XIRR and MIRR.</a:t>
            </a:r>
          </a:p>
          <a:p>
            <a:pPr marL="342900" indent="-342900">
              <a:buFont typeface="Arial" panose="020B0604020202020204" pitchFamily="34" charset="0"/>
              <a:buChar char="•"/>
            </a:pPr>
            <a:r>
              <a:rPr lang="en-US" sz="2000" b="1" dirty="0">
                <a:solidFill>
                  <a:schemeClr val="bg1"/>
                </a:solidFill>
                <a:latin typeface="+mj-lt"/>
                <a:cs typeface="Segoe UI" panose="020B0502040204020203" pitchFamily="34" charset="0"/>
              </a:rPr>
              <a:t>Comparative Analysis: </a:t>
            </a:r>
            <a:r>
              <a:rPr lang="en-US" sz="2000" dirty="0">
                <a:solidFill>
                  <a:schemeClr val="bg1"/>
                </a:solidFill>
                <a:latin typeface="+mj-lt"/>
                <a:cs typeface="Segoe UI" panose="020B0502040204020203" pitchFamily="34" charset="0"/>
              </a:rPr>
              <a:t>Where applicable, the functions are compared (e.g., NPV vs. XNPV, IRR vs. MIRR) to highlight strengths and best use cases.</a:t>
            </a:r>
          </a:p>
        </p:txBody>
      </p:sp>
    </p:spTree>
    <p:extLst>
      <p:ext uri="{BB962C8B-B14F-4D97-AF65-F5344CB8AC3E}">
        <p14:creationId xmlns:p14="http://schemas.microsoft.com/office/powerpoint/2010/main" val="479299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850392" y="291416"/>
            <a:ext cx="10881360" cy="1069848"/>
          </a:xfrm>
        </p:spPr>
        <p:txBody>
          <a:bodyPr/>
          <a:lstStyle/>
          <a:p>
            <a:r>
              <a:rPr lang="en-US" sz="4000" b="1" spc="600" dirty="0">
                <a:ln w="28575">
                  <a:noFill/>
                  <a:prstDash val="solid"/>
                </a:ln>
                <a:solidFill>
                  <a:schemeClr val="bg1"/>
                </a:solidFill>
                <a:latin typeface="Tw Cen MT" panose="020B0602020104020603" pitchFamily="34" charset="77"/>
              </a:rPr>
              <a:t>Insights</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2"/>
          </p:nvPr>
        </p:nvSpPr>
        <p:spPr/>
        <p:txBody>
          <a:bodyPr/>
          <a:lstStyle/>
          <a:p>
            <a:fld id="{294A09A9-5501-47C1-A89A-A340965A2BE2}" type="slidenum">
              <a:rPr lang="en-US" smtClean="0"/>
              <a:pPr/>
              <a:t>11</a:t>
            </a:fld>
            <a:endParaRPr lang="en-US" dirty="0"/>
          </a:p>
        </p:txBody>
      </p:sp>
      <p:sp>
        <p:nvSpPr>
          <p:cNvPr id="19" name="TextBox 18">
            <a:extLst>
              <a:ext uri="{FF2B5EF4-FFF2-40B4-BE49-F238E27FC236}">
                <a16:creationId xmlns:a16="http://schemas.microsoft.com/office/drawing/2014/main" id="{44E94968-4520-4599-BE54-E4F0C0CBDEB2}"/>
              </a:ext>
            </a:extLst>
          </p:cNvPr>
          <p:cNvSpPr txBox="1"/>
          <p:nvPr/>
        </p:nvSpPr>
        <p:spPr>
          <a:xfrm>
            <a:off x="850392" y="1361264"/>
            <a:ext cx="9422693"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mj-lt"/>
                <a:cs typeface="Segoe UI" panose="020B0502040204020203" pitchFamily="34" charset="0"/>
              </a:rPr>
              <a:t>Even simple changes in input, like timing or rate, can significantly affect financial outcomes.</a:t>
            </a:r>
          </a:p>
          <a:p>
            <a:pPr marL="342900" indent="-342900">
              <a:buFont typeface="Arial" panose="020B0604020202020204" pitchFamily="34" charset="0"/>
              <a:buChar char="•"/>
            </a:pPr>
            <a:r>
              <a:rPr lang="en-US" sz="2000" dirty="0">
                <a:solidFill>
                  <a:schemeClr val="bg1"/>
                </a:solidFill>
                <a:latin typeface="+mj-lt"/>
                <a:cs typeface="Segoe UI" panose="020B0502040204020203" pitchFamily="34" charset="0"/>
              </a:rPr>
              <a:t>Understanding and applying Excel financial functions can provide better financial planning for both personal goals (loans, savings) and business investments.</a:t>
            </a:r>
          </a:p>
          <a:p>
            <a:pPr marL="342900" indent="-342900">
              <a:buFont typeface="Arial" panose="020B0604020202020204" pitchFamily="34" charset="0"/>
              <a:buChar char="•"/>
            </a:pPr>
            <a:r>
              <a:rPr lang="en-US" sz="2000" dirty="0">
                <a:solidFill>
                  <a:schemeClr val="bg1"/>
                </a:solidFill>
                <a:latin typeface="+mj-lt"/>
                <a:cs typeface="Segoe UI" panose="020B0502040204020203" pitchFamily="34" charset="0"/>
              </a:rPr>
              <a:t>Functions like XNPV and XIRR are essential for real-world scenarios where cash flow timings are irregular.</a:t>
            </a:r>
          </a:p>
          <a:p>
            <a:pPr marL="342900" indent="-342900">
              <a:buFont typeface="Arial" panose="020B0604020202020204" pitchFamily="34" charset="0"/>
              <a:buChar char="•"/>
            </a:pPr>
            <a:r>
              <a:rPr lang="en-US" sz="2000" dirty="0">
                <a:solidFill>
                  <a:schemeClr val="bg1"/>
                </a:solidFill>
                <a:latin typeface="+mj-lt"/>
                <a:cs typeface="Segoe UI" panose="020B0502040204020203" pitchFamily="34" charset="0"/>
              </a:rPr>
              <a:t>MIRR offers a more accurate profitability estimate than IRR when reinvestment rates differ.</a:t>
            </a:r>
          </a:p>
        </p:txBody>
      </p:sp>
    </p:spTree>
    <p:extLst>
      <p:ext uri="{BB962C8B-B14F-4D97-AF65-F5344CB8AC3E}">
        <p14:creationId xmlns:p14="http://schemas.microsoft.com/office/powerpoint/2010/main" val="1863160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p:txBody>
          <a:bodyPr/>
          <a:lstStyle/>
          <a:p>
            <a:r>
              <a:rPr lang="en-US" dirty="0">
                <a:ln w="28575">
                  <a:noFill/>
                  <a:prstDash val="solid"/>
                </a:ln>
                <a:latin typeface="Tw Cen MT" panose="020B0602020104020603" pitchFamily="34" charset="77"/>
                <a:ea typeface="Verdana" panose="020B0604030504040204" pitchFamily="34" charset="0"/>
              </a:rPr>
              <a:t>CONCLUSION</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p:txBody>
          <a:bodyPr/>
          <a:lstStyle/>
          <a:p>
            <a:pPr algn="just"/>
            <a:r>
              <a:rPr lang="en-US" sz="1800" dirty="0">
                <a:solidFill>
                  <a:schemeClr val="bg1"/>
                </a:solidFill>
                <a:latin typeface="Segoe UI Light" panose="020B0502040204020203" pitchFamily="34" charset="0"/>
                <a:ea typeface="+mn-lt"/>
                <a:cs typeface="Segoe UI Light" panose="020B0502040204020203" pitchFamily="34" charset="0"/>
              </a:rPr>
              <a:t>This project provides a comprehensive guide to mastering financial analysis using Excel. From evaluating the cost of appliances to comparing investment opportunities, Excel’s built-in financial functions offer a powerful toolkit for making data-driven financial decisions. By understanding the concepts behind each formula and practicing their use through examples, users can enhance their financial acumen, improve decision-making, and create robust financial models for virtually any scenario.</a:t>
            </a:r>
            <a:endParaRPr lang="en-US" dirty="0"/>
          </a:p>
        </p:txBody>
      </p:sp>
    </p:spTree>
    <p:extLst>
      <p:ext uri="{BB962C8B-B14F-4D97-AF65-F5344CB8AC3E}">
        <p14:creationId xmlns:p14="http://schemas.microsoft.com/office/powerpoint/2010/main" val="1958759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p:txBody>
          <a:bodyPr/>
          <a:lstStyle/>
          <a:p>
            <a:pPr algn="l"/>
            <a:r>
              <a:rPr lang="en-US" dirty="0">
                <a:latin typeface="Segoe UI Light" panose="020B0502040204020203" pitchFamily="34" charset="0"/>
                <a:cs typeface="Segoe UI Light" panose="020B0502040204020203" pitchFamily="34" charset="0"/>
              </a:rPr>
              <a:t>Sagar Bohidar</a:t>
            </a:r>
          </a:p>
          <a:p>
            <a:pPr algn="l"/>
            <a:r>
              <a:rPr lang="en-US" dirty="0">
                <a:latin typeface="Segoe UI Light" panose="020B0502040204020203" pitchFamily="34" charset="0"/>
                <a:cs typeface="Segoe UI Light" panose="020B0502040204020203" pitchFamily="34" charset="0"/>
                <a:hlinkClick r:id="rId2"/>
              </a:rPr>
              <a:t>sgrbohidar23@gmail.com</a:t>
            </a:r>
            <a:endParaRPr lang="en-US" dirty="0">
              <a:latin typeface="Segoe UI Light" panose="020B0502040204020203" pitchFamily="34" charset="0"/>
              <a:cs typeface="Segoe UI Light" panose="020B0502040204020203" pitchFamily="34" charset="0"/>
            </a:endParaRPr>
          </a:p>
          <a:p>
            <a:r>
              <a:rPr lang="en-US" dirty="0">
                <a:latin typeface="Segoe UI Light" panose="020B0502040204020203" pitchFamily="34" charset="0"/>
                <a:cs typeface="Segoe UI Light" panose="020B0502040204020203" pitchFamily="34" charset="0"/>
              </a:rPr>
              <a:t>Batch No. - CX-132-MOR - May</a:t>
            </a:r>
          </a:p>
          <a:p>
            <a:pPr algn="l"/>
            <a:endParaRPr lang="en-US"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103</TotalTime>
  <Words>1161</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Segoe UI Light</vt:lpstr>
      <vt:lpstr>Tw Cen MT</vt:lpstr>
      <vt:lpstr>Office Theme</vt:lpstr>
      <vt:lpstr>Financial Functions in Excel:    A Comprehensive Analysis with Examples</vt:lpstr>
      <vt:lpstr>CONTENTS</vt:lpstr>
      <vt:lpstr>INTRODUCTION</vt:lpstr>
      <vt:lpstr>KEYFINDINGS</vt:lpstr>
      <vt:lpstr>KEYFINDINGS</vt:lpstr>
      <vt:lpstr>KEYFINDINGS</vt:lpstr>
      <vt:lpstr>KEYFINDINGS</vt:lpstr>
      <vt:lpstr>KEYFINDINGS</vt:lpstr>
      <vt:lpstr>Actionable Methodologies</vt:lpstr>
      <vt:lpstr>Approaches</vt:lpstr>
      <vt:lpstr>Insights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Functions in Excel:    A Comprehensive Analysis with Examples</dc:title>
  <dc:creator>sagar bohidar</dc:creator>
  <cp:lastModifiedBy>sagar bohidar</cp:lastModifiedBy>
  <cp:revision>7</cp:revision>
  <dcterms:created xsi:type="dcterms:W3CDTF">2025-06-06T16:21:35Z</dcterms:created>
  <dcterms:modified xsi:type="dcterms:W3CDTF">2025-06-06T18:05:28Z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